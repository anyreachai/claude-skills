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3335000" cy="8572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dPt>
            <c:idx val="0"/>
            <c:spPr>
              <a:solidFill>
                <a:srgbClr val="5B5FC7"/>
              </a:solidFill>
              <a:ln>
                <a:noFill/>
              </a:ln>
            </c:spPr>
          </c:dPt>
          <c:dPt>
            <c:idx val="1"/>
            <c:spPr>
              <a:solidFill>
                <a:srgbClr val="8B8FE0"/>
              </a:solidFill>
              <a:ln>
                <a:noFill/>
              </a:ln>
            </c:spPr>
          </c:dPt>
          <c:dPt>
            <c:idx val="2"/>
            <c:spPr>
              <a:solidFill>
                <a:srgbClr val="3D40A0"/>
              </a:solidFill>
              <a:ln>
                <a:noFill/>
              </a:ln>
            </c:spPr>
          </c:dPt>
          <c:dPt>
            <c:idx val="3"/>
            <c:spPr>
              <a:solidFill>
                <a:srgbClr val="DCFA45"/>
              </a:solidFill>
              <a:ln>
                <a:noFill/>
              </a:ln>
            </c:spPr>
          </c:dPt>
          <c:dPt>
            <c:idx val="4"/>
            <c:spPr>
              <a:solidFill>
                <a:srgbClr val="E8B048"/>
              </a:solidFill>
              <a:ln>
                <a:noFill/>
              </a:ln>
            </c:spPr>
          </c:dPt>
          <c:dPt>
            <c:idx val="5"/>
            <c:spPr>
              <a:solidFill>
                <a:srgbClr val="D86878"/>
              </a:solidFill>
              <a:ln>
                <a:noFill/>
              </a:ln>
            </c:spPr>
          </c:dPt>
          <c:cat>
            <c:strRef>
              <c:f>Sheet1!$A$2:$A$7</c:f>
              <c:strCache>
                <c:ptCount val="6"/>
                <c:pt idx="0">
                  <c:v>People · R&amp;D</c:v>
                </c:pt>
                <c:pt idx="1">
                  <c:v>People · GTM + Delivery</c:v>
                </c:pt>
                <c:pt idx="2">
                  <c:v>People · G&amp;A</c:v>
                </c:pt>
                <c:pt idx="3">
                  <c:v>Compute &amp; Infra</c:v>
                </c:pt>
                <c:pt idx="4">
                  <c:v>Programs · Tools</c:v>
                </c:pt>
                <c:pt idx="5">
                  <c:v>Contingency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8.4</c:v>
                </c:pt>
                <c:pt idx="1">
                  <c:v>9.6</c:v>
                </c:pt>
                <c:pt idx="2">
                  <c:v>3.8</c:v>
                </c:pt>
                <c:pt idx="3">
                  <c:v>3.0</c:v>
                </c:pt>
                <c:pt idx="4">
                  <c:v>2.5</c:v>
                </c:pt>
                <c:pt idx="5">
                  <c:v>1.1</c:v>
                </c:pt>
              </c:numCache>
            </c:numRef>
          </c:val>
        </c:ser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CD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609600"/>
            <a:ext cx="11811000" cy="247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spc="210">
                <a:solidFill>
                  <a:srgbClr val="6E6A5C"/>
                </a:solidFill>
                <a:latin typeface="DM Sans"/>
              </a:rPr>
              <a:t>EXAMPLE DECK · ANYREACH DESIGN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028700"/>
            <a:ext cx="11811000" cy="2114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5000"/>
              </a:lnSpc>
            </a:pPr>
            <a:r>
              <a:rPr sz="13500">
                <a:solidFill>
                  <a:srgbClr val="0B0B1C"/>
                </a:solidFill>
                <a:latin typeface="Fraunces"/>
              </a:rPr>
              <a:t>Why </a:t>
            </a:r>
            <a:r>
              <a:rPr i="1" sz="13500">
                <a:solidFill>
                  <a:srgbClr val="0B0B1C"/>
                </a:solidFill>
                <a:latin typeface="Fraunces"/>
              </a:rPr>
              <a:t>$15M</a:t>
            </a:r>
            <a:r>
              <a:rPr sz="13500">
                <a:solidFill>
                  <a:srgbClr val="0B0B1C"/>
                </a:solidFill>
                <a:latin typeface="Fraunces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3143250"/>
            <a:ext cx="68580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55000"/>
              </a:lnSpc>
            </a:pPr>
            <a:r>
              <a:rPr sz="1700">
                <a:solidFill>
                  <a:srgbClr val="6E6A5C"/>
                </a:solidFill>
                <a:latin typeface="DM Sans"/>
              </a:rPr>
              <a:t>The number is not aspirational. It is the smallest raise that funds the embed motion at scale, and the largest that defends best-in-class capital efficiency.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4381500"/>
            <a:ext cx="118110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100">
                <a:solidFill>
                  <a:srgbClr val="6E6A5C"/>
                </a:solidFill>
                <a:latin typeface="DM Sans"/>
              </a:rPr>
              <a:t>Prepared by Richard Lin · CEO · richard@anyreach.ai</a:t>
            </a:r>
          </a:p>
        </p:txBody>
      </p:sp>
      <p:sp>
        <p:nvSpPr>
          <p:cNvPr id="6" name="Rectangle 5"/>
          <p:cNvSpPr/>
          <p:nvPr/>
        </p:nvSpPr>
        <p:spPr>
          <a:xfrm>
            <a:off x="762000" y="5676900"/>
            <a:ext cx="11811000" cy="2286000"/>
          </a:xfrm>
          <a:prstGeom prst="rect">
            <a:avLst/>
          </a:prstGeom>
          <a:solidFill>
            <a:srgbClr val="D8D2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2000" y="5676900"/>
            <a:ext cx="2938462" cy="2286000"/>
          </a:xfrm>
          <a:prstGeom prst="rect">
            <a:avLst/>
          </a:prstGeom>
          <a:solidFill>
            <a:srgbClr val="F1E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90600" y="5905500"/>
            <a:ext cx="2481262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spc="210">
                <a:solidFill>
                  <a:srgbClr val="6E6A5C"/>
                </a:solidFill>
                <a:latin typeface="DM Sans"/>
              </a:rPr>
              <a:t>RAISE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0600" y="6248400"/>
            <a:ext cx="2481262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4800">
                <a:solidFill>
                  <a:srgbClr val="0B0B1C"/>
                </a:solidFill>
                <a:latin typeface="Fraunces"/>
              </a:rPr>
              <a:t>$15M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0600" y="6858000"/>
            <a:ext cx="2481262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50000"/>
              </a:lnSpc>
            </a:pPr>
            <a:r>
              <a:rPr sz="1050">
                <a:solidFill>
                  <a:srgbClr val="6E6A5C"/>
                </a:solidFill>
                <a:latin typeface="DM Sans"/>
              </a:rPr>
              <a:t>Series A · Q4 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19512" y="5676900"/>
            <a:ext cx="2938462" cy="2286000"/>
          </a:xfrm>
          <a:prstGeom prst="rect">
            <a:avLst/>
          </a:prstGeom>
          <a:solidFill>
            <a:srgbClr val="F1E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48112" y="5905500"/>
            <a:ext cx="2481262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spc="210">
                <a:solidFill>
                  <a:srgbClr val="6E6A5C"/>
                </a:solidFill>
                <a:latin typeface="DM Sans"/>
              </a:rPr>
              <a:t>RUNWAY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48112" y="6248400"/>
            <a:ext cx="2481262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4800">
                <a:solidFill>
                  <a:srgbClr val="0B0B1C"/>
                </a:solidFill>
                <a:latin typeface="Fraunces"/>
              </a:rPr>
              <a:t>24 mo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48112" y="6858000"/>
            <a:ext cx="2481262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50000"/>
              </a:lnSpc>
            </a:pPr>
            <a:r>
              <a:rPr sz="1050">
                <a:solidFill>
                  <a:srgbClr val="6E6A5C"/>
                </a:solidFill>
                <a:latin typeface="DM Sans"/>
              </a:rPr>
              <a:t>Base case · to Series 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77025" y="5676900"/>
            <a:ext cx="2938462" cy="2286000"/>
          </a:xfrm>
          <a:prstGeom prst="rect">
            <a:avLst/>
          </a:prstGeom>
          <a:solidFill>
            <a:srgbClr val="F1E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05625" y="5905500"/>
            <a:ext cx="2481262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spc="210">
                <a:solidFill>
                  <a:srgbClr val="6E6A5C"/>
                </a:solidFill>
                <a:latin typeface="DM Sans"/>
              </a:rPr>
              <a:t>ARR TARGET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05625" y="6248400"/>
            <a:ext cx="2481262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4800">
                <a:solidFill>
                  <a:srgbClr val="0B0B1C"/>
                </a:solidFill>
                <a:latin typeface="Fraunces"/>
              </a:rPr>
              <a:t>$50M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05625" y="6858000"/>
            <a:ext cx="2481262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50000"/>
              </a:lnSpc>
            </a:pPr>
            <a:r>
              <a:rPr sz="1050">
                <a:solidFill>
                  <a:srgbClr val="6E6A5C"/>
                </a:solidFill>
                <a:latin typeface="DM Sans"/>
              </a:rPr>
              <a:t>44× from $1.13M today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34538" y="5676900"/>
            <a:ext cx="2938462" cy="2286000"/>
          </a:xfrm>
          <a:prstGeom prst="rect">
            <a:avLst/>
          </a:prstGeom>
          <a:solidFill>
            <a:srgbClr val="F1E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63138" y="5905500"/>
            <a:ext cx="2481262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spc="210">
                <a:solidFill>
                  <a:srgbClr val="6E6A5C"/>
                </a:solidFill>
                <a:latin typeface="DM Sans"/>
              </a:rPr>
              <a:t>BURN MULT.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63138" y="6248400"/>
            <a:ext cx="2481262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4800">
                <a:solidFill>
                  <a:srgbClr val="0B0B1C"/>
                </a:solidFill>
                <a:latin typeface="Fraunces"/>
              </a:rPr>
              <a:t>0.31x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63138" y="6858000"/>
            <a:ext cx="2481262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50000"/>
              </a:lnSpc>
            </a:pPr>
            <a:r>
              <a:rPr sz="1050">
                <a:solidFill>
                  <a:srgbClr val="6E6A5C"/>
                </a:solidFill>
                <a:latin typeface="DM Sans"/>
              </a:rPr>
              <a:t>vs. 1.6x cloud median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609600"/>
            <a:ext cx="118110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spc="210">
                <a:solidFill>
                  <a:srgbClr val="9A95B0"/>
                </a:solidFill>
                <a:latin typeface="DM Sans"/>
              </a:rPr>
              <a:t>01 · USE OF FUNDS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914400"/>
            <a:ext cx="11811000" cy="1543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2000"/>
              </a:lnSpc>
            </a:pPr>
            <a:r>
              <a:rPr sz="5400">
                <a:solidFill>
                  <a:srgbClr val="F1ECDF"/>
                </a:solidFill>
                <a:latin typeface="Fraunces"/>
              </a:rPr>
              <a:t>Where the </a:t>
            </a:r>
            <a:r>
              <a:rPr i="1" sz="5400">
                <a:solidFill>
                  <a:srgbClr val="DCFA45"/>
                </a:solidFill>
                <a:latin typeface="Fraunces"/>
              </a:rPr>
              <a:t>money goes</a:t>
            </a:r>
            <a:r>
              <a:rPr sz="5400">
                <a:solidFill>
                  <a:srgbClr val="F1ECDF"/>
                </a:solidFill>
                <a:latin typeface="Fraunces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495550"/>
            <a:ext cx="781050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65000"/>
              </a:lnSpc>
            </a:pPr>
            <a:r>
              <a:rPr sz="1350">
                <a:solidFill>
                  <a:srgbClr val="9A95B0"/>
                </a:solidFill>
                <a:latin typeface="DM Sans"/>
              </a:rPr>
              <a:t>Total 24-month spend is $28.4M. Revenue collected covers $13–15M of it. The $15M raise closes the gap.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62000" y="3390900"/>
          <a:ext cx="3619500" cy="3619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704975" y="4933950"/>
            <a:ext cx="173355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b="1" sz="950" spc="210">
                <a:solidFill>
                  <a:srgbClr val="9A95B0"/>
                </a:solidFill>
                <a:latin typeface="DM Sans"/>
              </a:rPr>
              <a:t>Gross Spend · 24mo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04975" y="5181600"/>
            <a:ext cx="17335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600">
                <a:solidFill>
                  <a:srgbClr val="F1ECDF"/>
                </a:solidFill>
                <a:latin typeface="Fraunces"/>
              </a:rPr>
              <a:t>$28.4M</a:t>
            </a:r>
          </a:p>
        </p:txBody>
      </p:sp>
      <p:sp>
        <p:nvSpPr>
          <p:cNvPr id="8" name="Rectangle 7"/>
          <p:cNvSpPr/>
          <p:nvPr/>
        </p:nvSpPr>
        <p:spPr>
          <a:xfrm>
            <a:off x="4953000" y="3752850"/>
            <a:ext cx="133350" cy="133350"/>
          </a:xfrm>
          <a:prstGeom prst="rect">
            <a:avLst/>
          </a:prstGeom>
          <a:solidFill>
            <a:srgbClr val="5B5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00650" y="3714750"/>
            <a:ext cx="5715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200">
                <a:solidFill>
                  <a:srgbClr val="F1ECDF"/>
                </a:solidFill>
                <a:latin typeface="DM Sans"/>
              </a:rPr>
              <a:t>People · R&amp;D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39500" y="3714750"/>
            <a:ext cx="76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>
                <a:solidFill>
                  <a:srgbClr val="F1ECDF"/>
                </a:solidFill>
                <a:latin typeface="JetBrains Mono"/>
              </a:rPr>
              <a:t>$8.4M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39600" y="3714750"/>
            <a:ext cx="533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>
                <a:solidFill>
                  <a:srgbClr val="9A95B0"/>
                </a:solidFill>
                <a:latin typeface="JetBrains Mono"/>
              </a:rPr>
              <a:t>30%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53000" y="4076700"/>
            <a:ext cx="7620000" cy="9525"/>
          </a:xfrm>
          <a:prstGeom prst="rect">
            <a:avLst/>
          </a:prstGeom>
          <a:solidFill>
            <a:srgbClr val="262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953000" y="4152900"/>
            <a:ext cx="133350" cy="133350"/>
          </a:xfrm>
          <a:prstGeom prst="rect">
            <a:avLst/>
          </a:prstGeom>
          <a:solidFill>
            <a:srgbClr val="8B8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00650" y="4114800"/>
            <a:ext cx="5715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200">
                <a:solidFill>
                  <a:srgbClr val="F1ECDF"/>
                </a:solidFill>
                <a:latin typeface="DM Sans"/>
              </a:rPr>
              <a:t>People · GTM + Delivery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39500" y="4114800"/>
            <a:ext cx="76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>
                <a:solidFill>
                  <a:srgbClr val="F1ECDF"/>
                </a:solidFill>
                <a:latin typeface="JetBrains Mono"/>
              </a:rPr>
              <a:t>$9.6M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039600" y="4114800"/>
            <a:ext cx="533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>
                <a:solidFill>
                  <a:srgbClr val="9A95B0"/>
                </a:solidFill>
                <a:latin typeface="JetBrains Mono"/>
              </a:rPr>
              <a:t>34%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53000" y="4476750"/>
            <a:ext cx="7620000" cy="9525"/>
          </a:xfrm>
          <a:prstGeom prst="rect">
            <a:avLst/>
          </a:prstGeom>
          <a:solidFill>
            <a:srgbClr val="262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953000" y="4552950"/>
            <a:ext cx="133350" cy="133350"/>
          </a:xfrm>
          <a:prstGeom prst="rect">
            <a:avLst/>
          </a:prstGeom>
          <a:solidFill>
            <a:srgbClr val="3D4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00650" y="4514850"/>
            <a:ext cx="5715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200">
                <a:solidFill>
                  <a:srgbClr val="F1ECDF"/>
                </a:solidFill>
                <a:latin typeface="DM Sans"/>
              </a:rPr>
              <a:t>People · G&amp;A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39500" y="4514850"/>
            <a:ext cx="76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>
                <a:solidFill>
                  <a:srgbClr val="F1ECDF"/>
                </a:solidFill>
                <a:latin typeface="JetBrains Mono"/>
              </a:rPr>
              <a:t>$3.8M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039600" y="4514850"/>
            <a:ext cx="533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>
                <a:solidFill>
                  <a:srgbClr val="9A95B0"/>
                </a:solidFill>
                <a:latin typeface="JetBrains Mono"/>
              </a:rPr>
              <a:t>13%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953000" y="4876800"/>
            <a:ext cx="7620000" cy="9525"/>
          </a:xfrm>
          <a:prstGeom prst="rect">
            <a:avLst/>
          </a:prstGeom>
          <a:solidFill>
            <a:srgbClr val="262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953000" y="4953000"/>
            <a:ext cx="133350" cy="133350"/>
          </a:xfrm>
          <a:prstGeom prst="rect">
            <a:avLst/>
          </a:prstGeom>
          <a:solidFill>
            <a:srgbClr val="DCF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200650" y="4914900"/>
            <a:ext cx="5715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200">
                <a:solidFill>
                  <a:srgbClr val="F1ECDF"/>
                </a:solidFill>
                <a:latin typeface="DM Sans"/>
              </a:rPr>
              <a:t>Compute &amp; Infra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39500" y="4914900"/>
            <a:ext cx="76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>
                <a:solidFill>
                  <a:srgbClr val="F1ECDF"/>
                </a:solidFill>
                <a:latin typeface="JetBrains Mono"/>
              </a:rPr>
              <a:t>$3.0M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039600" y="4914900"/>
            <a:ext cx="533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>
                <a:solidFill>
                  <a:srgbClr val="9A95B0"/>
                </a:solidFill>
                <a:latin typeface="JetBrains Mono"/>
              </a:rPr>
              <a:t>10%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53000" y="5276850"/>
            <a:ext cx="7620000" cy="9525"/>
          </a:xfrm>
          <a:prstGeom prst="rect">
            <a:avLst/>
          </a:prstGeom>
          <a:solidFill>
            <a:srgbClr val="262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953000" y="5353050"/>
            <a:ext cx="133350" cy="133350"/>
          </a:xfrm>
          <a:prstGeom prst="rect">
            <a:avLst/>
          </a:prstGeom>
          <a:solidFill>
            <a:srgbClr val="E8B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200650" y="5314950"/>
            <a:ext cx="5715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200">
                <a:solidFill>
                  <a:srgbClr val="F1ECDF"/>
                </a:solidFill>
                <a:latin typeface="DM Sans"/>
              </a:rPr>
              <a:t>Programs · Tools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39500" y="5314950"/>
            <a:ext cx="76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>
                <a:solidFill>
                  <a:srgbClr val="F1ECDF"/>
                </a:solidFill>
                <a:latin typeface="JetBrains Mono"/>
              </a:rPr>
              <a:t>$2.5M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039600" y="5314950"/>
            <a:ext cx="533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>
                <a:solidFill>
                  <a:srgbClr val="9A95B0"/>
                </a:solidFill>
                <a:latin typeface="JetBrains Mono"/>
              </a:rPr>
              <a:t>9%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953000" y="5676900"/>
            <a:ext cx="7620000" cy="9525"/>
          </a:xfrm>
          <a:prstGeom prst="rect">
            <a:avLst/>
          </a:prstGeom>
          <a:solidFill>
            <a:srgbClr val="262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953000" y="5753100"/>
            <a:ext cx="133350" cy="133350"/>
          </a:xfrm>
          <a:prstGeom prst="rect">
            <a:avLst/>
          </a:prstGeom>
          <a:solidFill>
            <a:srgbClr val="D868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200650" y="5715000"/>
            <a:ext cx="5715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200">
                <a:solidFill>
                  <a:srgbClr val="F1ECDF"/>
                </a:solidFill>
                <a:latin typeface="DM Sans"/>
              </a:rPr>
              <a:t>Contingency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39500" y="5715000"/>
            <a:ext cx="76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>
                <a:solidFill>
                  <a:srgbClr val="F1ECDF"/>
                </a:solidFill>
                <a:latin typeface="JetBrains Mono"/>
              </a:rPr>
              <a:t>$1.1M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039600" y="5715000"/>
            <a:ext cx="533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>
                <a:solidFill>
                  <a:srgbClr val="9A95B0"/>
                </a:solidFill>
                <a:latin typeface="JetBrains Mono"/>
              </a:rPr>
              <a:t>4%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953000" y="6076950"/>
            <a:ext cx="7620000" cy="9525"/>
          </a:xfrm>
          <a:prstGeom prst="rect">
            <a:avLst/>
          </a:prstGeom>
          <a:solidFill>
            <a:srgbClr val="262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62000" y="6248400"/>
            <a:ext cx="11811000" cy="1714500"/>
          </a:xfrm>
          <a:prstGeom prst="rect">
            <a:avLst/>
          </a:prstGeom>
          <a:solidFill>
            <a:srgbClr val="262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62000" y="6248400"/>
            <a:ext cx="3924300" cy="1714500"/>
          </a:xfrm>
          <a:prstGeom prst="rect">
            <a:avLst/>
          </a:prstGeom>
          <a:solidFill>
            <a:srgbClr val="0B0B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90600" y="6477000"/>
            <a:ext cx="34671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spc="210">
                <a:solidFill>
                  <a:srgbClr val="9A95B0"/>
                </a:solidFill>
                <a:latin typeface="DM Sans"/>
              </a:rPr>
              <a:t>PEOPLE · 77%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0600" y="6819900"/>
            <a:ext cx="3467100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3600">
                <a:solidFill>
                  <a:srgbClr val="F1ECDF"/>
                </a:solidFill>
                <a:latin typeface="Fraunces"/>
              </a:rPr>
              <a:t>$21.8M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90600" y="7305675"/>
            <a:ext cx="34671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50000"/>
              </a:lnSpc>
            </a:pPr>
            <a:r>
              <a:rPr sz="1050">
                <a:solidFill>
                  <a:srgbClr val="9A95B0"/>
                </a:solidFill>
                <a:latin typeface="DM Sans"/>
              </a:rPr>
              <a:t>66 avg FTEs · blended $165K loaded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705350" y="6248400"/>
            <a:ext cx="3924300" cy="1714500"/>
          </a:xfrm>
          <a:prstGeom prst="rect">
            <a:avLst/>
          </a:prstGeom>
          <a:solidFill>
            <a:srgbClr val="0B0B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933950" y="6477000"/>
            <a:ext cx="34671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spc="210">
                <a:solidFill>
                  <a:srgbClr val="9A95B0"/>
                </a:solidFill>
                <a:latin typeface="DM Sans"/>
              </a:rPr>
              <a:t>COMPUTE · 10%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933950" y="6819900"/>
            <a:ext cx="3467100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3600">
                <a:solidFill>
                  <a:srgbClr val="F1ECDF"/>
                </a:solidFill>
                <a:latin typeface="Fraunces"/>
              </a:rPr>
              <a:t>$3.0M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933950" y="7305675"/>
            <a:ext cx="34671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50000"/>
              </a:lnSpc>
            </a:pPr>
            <a:r>
              <a:rPr sz="1050">
                <a:solidFill>
                  <a:srgbClr val="9A95B0"/>
                </a:solidFill>
                <a:latin typeface="DM Sans"/>
              </a:rPr>
              <a:t>Inference + reserved GPU · 10× scale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648700" y="6248400"/>
            <a:ext cx="3924300" cy="1714500"/>
          </a:xfrm>
          <a:prstGeom prst="rect">
            <a:avLst/>
          </a:prstGeom>
          <a:solidFill>
            <a:srgbClr val="0B0B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877300" y="6477000"/>
            <a:ext cx="34671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spc="210">
                <a:solidFill>
                  <a:srgbClr val="9A95B0"/>
                </a:solidFill>
                <a:latin typeface="DM Sans"/>
              </a:rPr>
              <a:t>PROGRAMS · 13%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877300" y="6819900"/>
            <a:ext cx="3467100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3600">
                <a:solidFill>
                  <a:srgbClr val="F1ECDF"/>
                </a:solidFill>
                <a:latin typeface="Fraunces"/>
              </a:rPr>
              <a:t>$3.6M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877300" y="7305675"/>
            <a:ext cx="34671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50000"/>
              </a:lnSpc>
            </a:pPr>
            <a:r>
              <a:rPr sz="1050">
                <a:solidFill>
                  <a:srgbClr val="9A95B0"/>
                </a:solidFill>
                <a:latin typeface="DM Sans"/>
              </a:rPr>
              <a:t>Legal, S&amp;M, tooling, audits, contingency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CD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609600"/>
            <a:ext cx="118110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spc="210">
                <a:solidFill>
                  <a:srgbClr val="6E6A5C"/>
                </a:solidFill>
                <a:latin typeface="DM Sans"/>
              </a:rPr>
              <a:t>02 · HEADCOUNT LOGIC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914400"/>
            <a:ext cx="11811000" cy="1543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2000"/>
              </a:lnSpc>
            </a:pPr>
            <a:r>
              <a:rPr sz="5400">
                <a:solidFill>
                  <a:srgbClr val="0B0B1C"/>
                </a:solidFill>
                <a:latin typeface="Fraunces"/>
              </a:rPr>
              <a:t>The company is </a:t>
            </a:r>
            <a:r>
              <a:rPr i="1" sz="5400">
                <a:solidFill>
                  <a:srgbClr val="0B0B1C"/>
                </a:solidFill>
                <a:latin typeface="Fraunces"/>
              </a:rPr>
              <a:t>four shapes</a:t>
            </a:r>
            <a:r>
              <a:rPr sz="5400">
                <a:solidFill>
                  <a:srgbClr val="0B0B1C"/>
                </a:solidFill>
                <a:latin typeface="Fraunces"/>
              </a:rPr>
              <a:t> at once.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495550"/>
            <a:ext cx="781050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65000"/>
              </a:lnSpc>
            </a:pPr>
            <a:r>
              <a:rPr sz="1350">
                <a:solidFill>
                  <a:srgbClr val="6E6A5C"/>
                </a:solidFill>
                <a:latin typeface="DM Sans"/>
              </a:rPr>
              <a:t>The embed motion stacks four distinct staffing curves: BPO partnership coverage, end-client delivery, the proprietary stack, and internal scaffolding. Each layer has its own ratio.</a:t>
            </a:r>
          </a:p>
        </p:txBody>
      </p:sp>
      <p:sp>
        <p:nvSpPr>
          <p:cNvPr id="5" name="Rectangle 4"/>
          <p:cNvSpPr/>
          <p:nvPr/>
        </p:nvSpPr>
        <p:spPr>
          <a:xfrm>
            <a:off x="762000" y="3390900"/>
            <a:ext cx="11811000" cy="3048000"/>
          </a:xfrm>
          <a:prstGeom prst="rect">
            <a:avLst/>
          </a:prstGeom>
          <a:solidFill>
            <a:srgbClr val="D8D2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2000" y="3390900"/>
            <a:ext cx="2938462" cy="3048000"/>
          </a:xfrm>
          <a:prstGeom prst="rect">
            <a:avLst/>
          </a:prstGeom>
          <a:solidFill>
            <a:srgbClr val="F1E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0600" y="3619500"/>
            <a:ext cx="123825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spc="210">
                <a:solidFill>
                  <a:srgbClr val="6E6A5C"/>
                </a:solidFill>
                <a:latin typeface="DM San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28850" y="3619500"/>
            <a:ext cx="12382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>
                <a:solidFill>
                  <a:srgbClr val="6E6A5C"/>
                </a:solidFill>
                <a:latin typeface="JetBrains Mono"/>
              </a:rPr>
              <a:t>14 avg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0600" y="3886200"/>
            <a:ext cx="2481262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2200">
                <a:solidFill>
                  <a:srgbClr val="0B0B1C"/>
                </a:solidFill>
                <a:latin typeface="Fraunces"/>
              </a:rPr>
              <a:t>BPO Partnership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0600" y="4343400"/>
            <a:ext cx="2481262" cy="723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4800">
                <a:solidFill>
                  <a:srgbClr val="5B5FC7"/>
                </a:solidFill>
                <a:latin typeface="Fraunces"/>
              </a:rPr>
              <a:t>23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0600" y="5029200"/>
            <a:ext cx="2481262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050">
                <a:solidFill>
                  <a:srgbClr val="6E6A5C"/>
                </a:solidFill>
                <a:latin typeface="DM Sans"/>
              </a:rPr>
              <a:t>FTEs · M24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0600" y="5257800"/>
            <a:ext cx="2481262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40000"/>
              </a:lnSpc>
            </a:pPr>
            <a:r>
              <a:rPr i="1" sz="1050">
                <a:solidFill>
                  <a:srgbClr val="6E6A5C"/>
                </a:solidFill>
                <a:latin typeface="DM Sans"/>
              </a:rPr>
              <a:t>1 pod (Lead + SA) per 3 BPOs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90600" y="5619750"/>
            <a:ext cx="2481262" cy="9525"/>
          </a:xfrm>
          <a:prstGeom prst="rect">
            <a:avLst/>
          </a:prstGeom>
          <a:solidFill>
            <a:srgbClr val="D8D2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0600" y="5734050"/>
            <a:ext cx="2481262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50000"/>
              </a:lnSpc>
            </a:pPr>
            <a:r>
              <a:rPr sz="1050">
                <a:solidFill>
                  <a:srgbClr val="5B5FC7"/>
                </a:solidFill>
                <a:latin typeface="DM Sans"/>
              </a:rPr>
              <a:t>— </a:t>
            </a:r>
            <a:r>
              <a:rPr sz="1050">
                <a:solidFill>
                  <a:srgbClr val="6E6A5C"/>
                </a:solidFill>
                <a:latin typeface="DM Sans"/>
              </a:rPr>
              <a:t>6 internal teams per BPO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0600" y="5943600"/>
            <a:ext cx="2481262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50000"/>
              </a:lnSpc>
            </a:pPr>
            <a:r>
              <a:rPr sz="1050">
                <a:solidFill>
                  <a:srgbClr val="5B5FC7"/>
                </a:solidFill>
                <a:latin typeface="DM Sans"/>
              </a:rPr>
              <a:t>— </a:t>
            </a:r>
            <a:r>
              <a:rPr sz="1050">
                <a:solidFill>
                  <a:srgbClr val="6E6A5C"/>
                </a:solidFill>
                <a:latin typeface="DM Sans"/>
              </a:rPr>
              <a:t>MSA · BAA · revenue share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0600" y="6153150"/>
            <a:ext cx="2481262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50000"/>
              </a:lnSpc>
            </a:pPr>
            <a:r>
              <a:rPr sz="1050">
                <a:solidFill>
                  <a:srgbClr val="5B5FC7"/>
                </a:solidFill>
                <a:latin typeface="DM Sans"/>
              </a:rPr>
              <a:t>— </a:t>
            </a:r>
            <a:r>
              <a:rPr sz="1050">
                <a:solidFill>
                  <a:srgbClr val="6E6A5C"/>
                </a:solidFill>
                <a:latin typeface="DM Sans"/>
              </a:rPr>
              <a:t>Co-selling motion w/ BPO Sales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719512" y="3390900"/>
            <a:ext cx="2938462" cy="3048000"/>
          </a:xfrm>
          <a:prstGeom prst="rect">
            <a:avLst/>
          </a:prstGeom>
          <a:solidFill>
            <a:srgbClr val="F1E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48112" y="3619500"/>
            <a:ext cx="123825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spc="210">
                <a:solidFill>
                  <a:srgbClr val="6E6A5C"/>
                </a:solidFill>
                <a:latin typeface="DM Sans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86362" y="3619500"/>
            <a:ext cx="12382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>
                <a:solidFill>
                  <a:srgbClr val="6E6A5C"/>
                </a:solidFill>
                <a:latin typeface="JetBrains Mono"/>
              </a:rPr>
              <a:t>18 avg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48112" y="3886200"/>
            <a:ext cx="2481262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2200">
                <a:solidFill>
                  <a:srgbClr val="0B0B1C"/>
                </a:solidFill>
                <a:latin typeface="Fraunces"/>
              </a:rPr>
              <a:t>End-Client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48112" y="4343400"/>
            <a:ext cx="2481262" cy="723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4800">
                <a:solidFill>
                  <a:srgbClr val="5B5FC7"/>
                </a:solidFill>
                <a:latin typeface="Fraunces"/>
              </a:rPr>
              <a:t>31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48112" y="5029200"/>
            <a:ext cx="2481262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050">
                <a:solidFill>
                  <a:srgbClr val="6E6A5C"/>
                </a:solidFill>
                <a:latin typeface="DM Sans"/>
              </a:rPr>
              <a:t>FTEs · M24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48112" y="5257800"/>
            <a:ext cx="2481262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40000"/>
              </a:lnSpc>
            </a:pPr>
            <a:r>
              <a:rPr i="1" sz="1050">
                <a:solidFill>
                  <a:srgbClr val="6E6A5C"/>
                </a:solidFill>
                <a:latin typeface="DM Sans"/>
              </a:rPr>
              <a:t>1 pod per 5–25 clients (by tier)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48112" y="5619750"/>
            <a:ext cx="2481262" cy="9525"/>
          </a:xfrm>
          <a:prstGeom prst="rect">
            <a:avLst/>
          </a:prstGeom>
          <a:solidFill>
            <a:srgbClr val="D8D2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948112" y="5734050"/>
            <a:ext cx="2481262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50000"/>
              </a:lnSpc>
            </a:pPr>
            <a:r>
              <a:rPr sz="1050">
                <a:solidFill>
                  <a:srgbClr val="5B5FC7"/>
                </a:solidFill>
                <a:latin typeface="DM Sans"/>
              </a:rPr>
              <a:t>— </a:t>
            </a:r>
            <a:r>
              <a:rPr sz="1050">
                <a:solidFill>
                  <a:srgbClr val="6E6A5C"/>
                </a:solidFill>
                <a:latin typeface="DM Sans"/>
              </a:rPr>
              <a:t>Tier 1: 1 TAM + 1 eng per 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48112" y="5943600"/>
            <a:ext cx="2481262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50000"/>
              </a:lnSpc>
            </a:pPr>
            <a:r>
              <a:rPr sz="1050">
                <a:solidFill>
                  <a:srgbClr val="5B5FC7"/>
                </a:solidFill>
                <a:latin typeface="DM Sans"/>
              </a:rPr>
              <a:t>— </a:t>
            </a:r>
            <a:r>
              <a:rPr sz="1050">
                <a:solidFill>
                  <a:srgbClr val="6E6A5C"/>
                </a:solidFill>
                <a:latin typeface="DM Sans"/>
              </a:rPr>
              <a:t>Tier 2: 1 TAM + 0.5 eng per 10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48112" y="6153150"/>
            <a:ext cx="2481262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50000"/>
              </a:lnSpc>
            </a:pPr>
            <a:r>
              <a:rPr sz="1050">
                <a:solidFill>
                  <a:srgbClr val="5B5FC7"/>
                </a:solidFill>
                <a:latin typeface="DM Sans"/>
              </a:rPr>
              <a:t>— </a:t>
            </a:r>
            <a:r>
              <a:rPr sz="1050">
                <a:solidFill>
                  <a:srgbClr val="6E6A5C"/>
                </a:solidFill>
                <a:latin typeface="DM Sans"/>
              </a:rPr>
              <a:t>Tier 3: 1 CSM per 25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77025" y="3390900"/>
            <a:ext cx="2938462" cy="3048000"/>
          </a:xfrm>
          <a:prstGeom prst="rect">
            <a:avLst/>
          </a:prstGeom>
          <a:solidFill>
            <a:srgbClr val="F1E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05625" y="3619500"/>
            <a:ext cx="123825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spc="210">
                <a:solidFill>
                  <a:srgbClr val="6E6A5C"/>
                </a:solidFill>
                <a:latin typeface="DM Sans"/>
              </a:rPr>
              <a:t>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43875" y="3619500"/>
            <a:ext cx="12382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>
                <a:solidFill>
                  <a:srgbClr val="6E6A5C"/>
                </a:solidFill>
                <a:latin typeface="JetBrains Mono"/>
              </a:rPr>
              <a:t>22 avg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05625" y="3886200"/>
            <a:ext cx="2481262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2200">
                <a:solidFill>
                  <a:srgbClr val="0B0B1C"/>
                </a:solidFill>
                <a:latin typeface="Fraunces"/>
              </a:rPr>
              <a:t>Product · R&amp;D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05625" y="4343400"/>
            <a:ext cx="2481262" cy="723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4800">
                <a:solidFill>
                  <a:srgbClr val="5B5FC7"/>
                </a:solidFill>
                <a:latin typeface="Fraunces"/>
              </a:rPr>
              <a:t>35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05625" y="5029200"/>
            <a:ext cx="2481262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050">
                <a:solidFill>
                  <a:srgbClr val="6E6A5C"/>
                </a:solidFill>
                <a:latin typeface="DM Sans"/>
              </a:rPr>
              <a:t>FTEs · M24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05625" y="5257800"/>
            <a:ext cx="2481262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40000"/>
              </a:lnSpc>
            </a:pPr>
            <a:r>
              <a:rPr i="1" sz="1050">
                <a:solidFill>
                  <a:srgbClr val="6E6A5C"/>
                </a:solidFill>
                <a:latin typeface="DM Sans"/>
              </a:rPr>
              <a:t>The moat — ML, platform, product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905625" y="5619750"/>
            <a:ext cx="2481262" cy="9525"/>
          </a:xfrm>
          <a:prstGeom prst="rect">
            <a:avLst/>
          </a:prstGeom>
          <a:solidFill>
            <a:srgbClr val="D8D2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905625" y="5734050"/>
            <a:ext cx="2481262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50000"/>
              </a:lnSpc>
            </a:pPr>
            <a:r>
              <a:rPr sz="1050">
                <a:solidFill>
                  <a:srgbClr val="5B5FC7"/>
                </a:solidFill>
                <a:latin typeface="DM Sans"/>
              </a:rPr>
              <a:t>— </a:t>
            </a:r>
            <a:r>
              <a:rPr sz="1050">
                <a:solidFill>
                  <a:srgbClr val="6E6A5C"/>
                </a:solidFill>
                <a:latin typeface="DM Sans"/>
              </a:rPr>
              <a:t>8 ML/Speech (DualTurn, ASR, TTS)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05625" y="5943600"/>
            <a:ext cx="2481262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50000"/>
              </a:lnSpc>
            </a:pPr>
            <a:r>
              <a:rPr sz="1050">
                <a:solidFill>
                  <a:srgbClr val="5B5FC7"/>
                </a:solidFill>
                <a:latin typeface="DM Sans"/>
              </a:rPr>
              <a:t>— </a:t>
            </a:r>
            <a:r>
              <a:rPr sz="1050">
                <a:solidFill>
                  <a:srgbClr val="6E6A5C"/>
                </a:solidFill>
                <a:latin typeface="DM Sans"/>
              </a:rPr>
              <a:t>7 Platform · 8 Product eng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05625" y="6153150"/>
            <a:ext cx="2481262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50000"/>
              </a:lnSpc>
            </a:pPr>
            <a:r>
              <a:rPr sz="1050">
                <a:solidFill>
                  <a:srgbClr val="5B5FC7"/>
                </a:solidFill>
                <a:latin typeface="DM Sans"/>
              </a:rPr>
              <a:t>— </a:t>
            </a:r>
            <a:r>
              <a:rPr sz="1050">
                <a:solidFill>
                  <a:srgbClr val="6E6A5C"/>
                </a:solidFill>
                <a:latin typeface="DM Sans"/>
              </a:rPr>
              <a:t>3 Voice UX · 4 PMs · 2 Design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634538" y="3390900"/>
            <a:ext cx="2938462" cy="3048000"/>
          </a:xfrm>
          <a:prstGeom prst="rect">
            <a:avLst/>
          </a:prstGeom>
          <a:solidFill>
            <a:srgbClr val="F1E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863138" y="3619500"/>
            <a:ext cx="123825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spc="210">
                <a:solidFill>
                  <a:srgbClr val="6E6A5C"/>
                </a:solidFill>
                <a:latin typeface="DM Sans"/>
              </a:rPr>
              <a:t>04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101388" y="3619500"/>
            <a:ext cx="12382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>
                <a:solidFill>
                  <a:srgbClr val="6E6A5C"/>
                </a:solidFill>
                <a:latin typeface="JetBrains Mono"/>
              </a:rPr>
              <a:t>12 avg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863138" y="3886200"/>
            <a:ext cx="2481262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2200">
                <a:solidFill>
                  <a:srgbClr val="0B0B1C"/>
                </a:solidFill>
                <a:latin typeface="Fraunces"/>
              </a:rPr>
              <a:t>Internal · GTM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863138" y="4343400"/>
            <a:ext cx="2481262" cy="723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4800">
                <a:solidFill>
                  <a:srgbClr val="5B5FC7"/>
                </a:solidFill>
                <a:latin typeface="Fraunces"/>
              </a:rPr>
              <a:t>17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863138" y="5029200"/>
            <a:ext cx="2481262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050">
                <a:solidFill>
                  <a:srgbClr val="6E6A5C"/>
                </a:solidFill>
                <a:latin typeface="DM Sans"/>
              </a:rPr>
              <a:t>FTEs · M24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863138" y="5257800"/>
            <a:ext cx="2481262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40000"/>
              </a:lnSpc>
            </a:pPr>
            <a:r>
              <a:rPr i="1" sz="1050">
                <a:solidFill>
                  <a:srgbClr val="6E6A5C"/>
                </a:solidFill>
                <a:latin typeface="DM Sans"/>
              </a:rPr>
              <a:t>Net-new BPO sales + scaffolding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863138" y="5619750"/>
            <a:ext cx="2481262" cy="9525"/>
          </a:xfrm>
          <a:prstGeom prst="rect">
            <a:avLst/>
          </a:prstGeom>
          <a:solidFill>
            <a:srgbClr val="D8D2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863138" y="5734050"/>
            <a:ext cx="2481262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50000"/>
              </a:lnSpc>
            </a:pPr>
            <a:r>
              <a:rPr sz="1050">
                <a:solidFill>
                  <a:srgbClr val="5B5FC7"/>
                </a:solidFill>
                <a:latin typeface="DM Sans"/>
              </a:rPr>
              <a:t>— </a:t>
            </a:r>
            <a:r>
              <a:rPr sz="1050">
                <a:solidFill>
                  <a:srgbClr val="6E6A5C"/>
                </a:solidFill>
                <a:latin typeface="DM Sans"/>
              </a:rPr>
              <a:t>4 AEs hunting net-new BPOs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863138" y="5943600"/>
            <a:ext cx="2481262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50000"/>
              </a:lnSpc>
            </a:pPr>
            <a:r>
              <a:rPr sz="1050">
                <a:solidFill>
                  <a:srgbClr val="5B5FC7"/>
                </a:solidFill>
                <a:latin typeface="DM Sans"/>
              </a:rPr>
              <a:t>— </a:t>
            </a:r>
            <a:r>
              <a:rPr sz="1050">
                <a:solidFill>
                  <a:srgbClr val="6E6A5C"/>
                </a:solidFill>
                <a:latin typeface="DM Sans"/>
              </a:rPr>
              <a:t>3 Marketing · 3 Finance/RevOps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863138" y="6153150"/>
            <a:ext cx="2481262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50000"/>
              </a:lnSpc>
            </a:pPr>
            <a:r>
              <a:rPr sz="1050">
                <a:solidFill>
                  <a:srgbClr val="5B5FC7"/>
                </a:solidFill>
                <a:latin typeface="DM Sans"/>
              </a:rPr>
              <a:t>— </a:t>
            </a:r>
            <a:r>
              <a:rPr sz="1050">
                <a:solidFill>
                  <a:srgbClr val="6E6A5C"/>
                </a:solidFill>
                <a:latin typeface="DM Sans"/>
              </a:rPr>
              <a:t>2 People · 1 Legal · 1 IT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62000" y="6305550"/>
            <a:ext cx="11811000" cy="9525"/>
          </a:xfrm>
          <a:prstGeom prst="rect">
            <a:avLst/>
          </a:prstGeom>
          <a:solidFill>
            <a:srgbClr val="D8D2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62000" y="6438900"/>
            <a:ext cx="11811000" cy="1524000"/>
          </a:xfrm>
          <a:prstGeom prst="rect">
            <a:avLst/>
          </a:prstGeom>
          <a:solidFill>
            <a:srgbClr val="D8D2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62000" y="6438900"/>
            <a:ext cx="2938462" cy="1524000"/>
          </a:xfrm>
          <a:prstGeom prst="rect">
            <a:avLst/>
          </a:prstGeom>
          <a:solidFill>
            <a:srgbClr val="F1E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90600" y="6667500"/>
            <a:ext cx="2481262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spc="210">
                <a:solidFill>
                  <a:srgbClr val="6E6A5C"/>
                </a:solidFill>
                <a:latin typeface="DM Sans"/>
              </a:rPr>
              <a:t>TOTAL M24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90600" y="7010400"/>
            <a:ext cx="2481262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3600">
                <a:solidFill>
                  <a:srgbClr val="0B0B1C"/>
                </a:solidFill>
                <a:latin typeface="Fraunces"/>
              </a:rPr>
              <a:t>106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90600" y="7496175"/>
            <a:ext cx="2481262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50000"/>
              </a:lnSpc>
            </a:pPr>
            <a:r>
              <a:rPr sz="1050">
                <a:solidFill>
                  <a:srgbClr val="6E6A5C"/>
                </a:solidFill>
                <a:latin typeface="DM Sans"/>
              </a:rPr>
              <a:t>up from 9 today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719512" y="6438900"/>
            <a:ext cx="2938462" cy="1524000"/>
          </a:xfrm>
          <a:prstGeom prst="rect">
            <a:avLst/>
          </a:prstGeom>
          <a:solidFill>
            <a:srgbClr val="F1E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948112" y="6667500"/>
            <a:ext cx="2481262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spc="210">
                <a:solidFill>
                  <a:srgbClr val="6E6A5C"/>
                </a:solidFill>
                <a:latin typeface="DM Sans"/>
              </a:rPr>
              <a:t>24-MO AVG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948112" y="7010400"/>
            <a:ext cx="2481262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3600">
                <a:solidFill>
                  <a:srgbClr val="0B0B1C"/>
                </a:solidFill>
                <a:latin typeface="Fraunces"/>
              </a:rPr>
              <a:t>66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948112" y="7496175"/>
            <a:ext cx="2481262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50000"/>
              </a:lnSpc>
            </a:pPr>
            <a:r>
              <a:rPr sz="1050">
                <a:solidFill>
                  <a:srgbClr val="6E6A5C"/>
                </a:solidFill>
                <a:latin typeface="DM Sans"/>
              </a:rPr>
              <a:t>weighted by ramp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677025" y="6438900"/>
            <a:ext cx="2938462" cy="1524000"/>
          </a:xfrm>
          <a:prstGeom prst="rect">
            <a:avLst/>
          </a:prstGeom>
          <a:solidFill>
            <a:srgbClr val="F1E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905625" y="6667500"/>
            <a:ext cx="2481262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spc="210">
                <a:solidFill>
                  <a:srgbClr val="6E6A5C"/>
                </a:solidFill>
                <a:latin typeface="DM Sans"/>
              </a:rPr>
              <a:t>REVENUE / FTE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905625" y="7010400"/>
            <a:ext cx="2481262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3600">
                <a:solidFill>
                  <a:srgbClr val="0B0B1C"/>
                </a:solidFill>
                <a:latin typeface="Fraunces"/>
              </a:rPr>
              <a:t>$472K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905625" y="7496175"/>
            <a:ext cx="2481262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50000"/>
              </a:lnSpc>
            </a:pPr>
            <a:r>
              <a:rPr sz="1050">
                <a:solidFill>
                  <a:srgbClr val="6E6A5C"/>
                </a:solidFill>
                <a:latin typeface="DM Sans"/>
              </a:rPr>
              <a:t>vs. $300–400K SaaS norm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634538" y="6438900"/>
            <a:ext cx="2938462" cy="1524000"/>
          </a:xfrm>
          <a:prstGeom prst="rect">
            <a:avLst/>
          </a:prstGeom>
          <a:solidFill>
            <a:srgbClr val="F1E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863138" y="6667500"/>
            <a:ext cx="2481262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spc="210">
                <a:solidFill>
                  <a:srgbClr val="6E6A5C"/>
                </a:solidFill>
                <a:latin typeface="DM Sans"/>
              </a:rPr>
              <a:t>US / INTL MIX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863138" y="7010400"/>
            <a:ext cx="2481262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3600">
                <a:solidFill>
                  <a:srgbClr val="0B0B1C"/>
                </a:solidFill>
                <a:latin typeface="Fraunces"/>
              </a:rPr>
              <a:t>55/45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863138" y="7496175"/>
            <a:ext cx="2481262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50000"/>
              </a:lnSpc>
            </a:pPr>
            <a:r>
              <a:rPr sz="1050">
                <a:solidFill>
                  <a:srgbClr val="6E6A5C"/>
                </a:solidFill>
                <a:latin typeface="DM Sans"/>
              </a:rPr>
              <a:t>India · Mexico · Ghana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CD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609600"/>
            <a:ext cx="118110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spc="210">
                <a:solidFill>
                  <a:srgbClr val="6E6A5C"/>
                </a:solidFill>
                <a:latin typeface="DM Sans"/>
              </a:rPr>
              <a:t>03 · THE STRATEGIC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914400"/>
            <a:ext cx="11811000" cy="1543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2000"/>
              </a:lnSpc>
            </a:pPr>
            <a:r>
              <a:rPr sz="5400">
                <a:solidFill>
                  <a:srgbClr val="0B0B1C"/>
                </a:solidFill>
                <a:latin typeface="Fraunces"/>
              </a:rPr>
              <a:t>Why </a:t>
            </a:r>
            <a:r>
              <a:rPr i="1" sz="5400">
                <a:solidFill>
                  <a:srgbClr val="0B0B1C"/>
                </a:solidFill>
                <a:latin typeface="Fraunces"/>
              </a:rPr>
              <a:t>not less</a:t>
            </a:r>
            <a:r>
              <a:rPr sz="5400">
                <a:solidFill>
                  <a:srgbClr val="0B0B1C"/>
                </a:solidFill>
                <a:latin typeface="Fraunces"/>
              </a:rPr>
              <a:t>. Why </a:t>
            </a:r>
            <a:r>
              <a:rPr i="1" sz="5400">
                <a:solidFill>
                  <a:srgbClr val="0B0B1C"/>
                </a:solidFill>
                <a:latin typeface="Fraunces"/>
              </a:rPr>
              <a:t>not more</a:t>
            </a:r>
            <a:r>
              <a:rPr sz="5400">
                <a:solidFill>
                  <a:srgbClr val="0B0B1C"/>
                </a:solidFill>
                <a:latin typeface="Fraunces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495550"/>
            <a:ext cx="781050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65000"/>
              </a:lnSpc>
            </a:pPr>
            <a:r>
              <a:rPr sz="1350">
                <a:solidFill>
                  <a:srgbClr val="6E6A5C"/>
                </a:solidFill>
                <a:latin typeface="DM Sans"/>
              </a:rPr>
              <a:t>The financial model is the floor. The strategic case is the reason it deserves a Series A. Each argument below is what an investor will ask, and the answer.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3390900"/>
            <a:ext cx="6858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2200">
                <a:solidFill>
                  <a:srgbClr val="5B5FC7"/>
                </a:solidFill>
                <a:latin typeface="Fraunces"/>
              </a:rPr>
              <a:t>Q1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76400" y="3390900"/>
            <a:ext cx="108966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40000"/>
              </a:lnSpc>
            </a:pPr>
            <a:r>
              <a:rPr b="1" sz="1350">
                <a:solidFill>
                  <a:srgbClr val="0B0B1C"/>
                </a:solidFill>
                <a:latin typeface="DM Sans"/>
              </a:rPr>
              <a:t>Why not raise $10M?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76400" y="3733800"/>
            <a:ext cx="10896600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65000"/>
              </a:lnSpc>
            </a:pPr>
            <a:r>
              <a:rPr sz="1200">
                <a:solidFill>
                  <a:srgbClr val="6E6A5C"/>
                </a:solidFill>
                <a:latin typeface="DM Sans"/>
              </a:rPr>
              <a:t>A $10M raise covers base case for 16 months — too short to prove $50M ARR for a Series B. The R&amp;D layer (the moat) gets cut.</a:t>
            </a:r>
          </a:p>
        </p:txBody>
      </p:sp>
      <p:sp>
        <p:nvSpPr>
          <p:cNvPr id="8" name="Rectangle 7"/>
          <p:cNvSpPr/>
          <p:nvPr/>
        </p:nvSpPr>
        <p:spPr>
          <a:xfrm>
            <a:off x="762000" y="4362450"/>
            <a:ext cx="11811000" cy="9525"/>
          </a:xfrm>
          <a:prstGeom prst="rect">
            <a:avLst/>
          </a:prstGeom>
          <a:solidFill>
            <a:srgbClr val="D8D2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4572000"/>
            <a:ext cx="6858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2200">
                <a:solidFill>
                  <a:srgbClr val="5B5FC7"/>
                </a:solidFill>
                <a:latin typeface="Fraunces"/>
              </a:rPr>
              <a:t>Q2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76400" y="4572000"/>
            <a:ext cx="108966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40000"/>
              </a:lnSpc>
            </a:pPr>
            <a:r>
              <a:rPr b="1" sz="1350">
                <a:solidFill>
                  <a:srgbClr val="0B0B1C"/>
                </a:solidFill>
                <a:latin typeface="DM Sans"/>
              </a:rPr>
              <a:t>Why not raise $25M?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76400" y="4914900"/>
            <a:ext cx="10896600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65000"/>
              </a:lnSpc>
            </a:pPr>
            <a:r>
              <a:rPr sz="1200">
                <a:solidFill>
                  <a:srgbClr val="6E6A5C"/>
                </a:solidFill>
                <a:latin typeface="DM Sans"/>
              </a:rPr>
              <a:t>Adds $10M of dilution for capacity we cannot deploy efficiently. Pushes burn multiple from 0.31x to ~0.55x — out of top decile.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2000" y="5543550"/>
            <a:ext cx="11811000" cy="9525"/>
          </a:xfrm>
          <a:prstGeom prst="rect">
            <a:avLst/>
          </a:prstGeom>
          <a:solidFill>
            <a:srgbClr val="D8D2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2000" y="5753100"/>
            <a:ext cx="6858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2200">
                <a:solidFill>
                  <a:srgbClr val="5B5FC7"/>
                </a:solidFill>
                <a:latin typeface="Fraunces"/>
              </a:rPr>
              <a:t>Q3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76400" y="5753100"/>
            <a:ext cx="108966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40000"/>
              </a:lnSpc>
            </a:pPr>
            <a:r>
              <a:rPr b="1" sz="1350">
                <a:solidFill>
                  <a:srgbClr val="0B0B1C"/>
                </a:solidFill>
                <a:latin typeface="DM Sans"/>
              </a:rPr>
              <a:t>Why is this Series A and not seed extension?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6096000"/>
            <a:ext cx="10896600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65000"/>
              </a:lnSpc>
            </a:pPr>
            <a:r>
              <a:rPr sz="1200">
                <a:solidFill>
                  <a:srgbClr val="6E6A5C"/>
                </a:solidFill>
                <a:latin typeface="DM Sans"/>
              </a:rPr>
              <a:t>7 BPO partners, $5M+ qualified pipeline, unprompted validation from $26B in combined BPO revenue. Risk has shifted from product to distribution at scale.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2000" y="6724650"/>
            <a:ext cx="11811000" cy="9525"/>
          </a:xfrm>
          <a:prstGeom prst="rect">
            <a:avLst/>
          </a:prstGeom>
          <a:solidFill>
            <a:srgbClr val="D8D2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62000" y="6724650"/>
            <a:ext cx="11811000" cy="1238250"/>
          </a:xfrm>
          <a:prstGeom prst="rect">
            <a:avLst/>
          </a:prstGeom>
          <a:solidFill>
            <a:srgbClr val="E8E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2000" y="6724650"/>
            <a:ext cx="38100" cy="1238250"/>
          </a:xfrm>
          <a:prstGeom prst="rect">
            <a:avLst/>
          </a:prstGeom>
          <a:solidFill>
            <a:srgbClr val="B84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9650" y="6934200"/>
            <a:ext cx="1131570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spc="210">
                <a:solidFill>
                  <a:srgbClr val="B84A56"/>
                </a:solidFill>
                <a:latin typeface="DM Sans"/>
              </a:rPr>
              <a:t>SENSITIVITY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9650" y="7219950"/>
            <a:ext cx="113157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60000"/>
              </a:lnSpc>
            </a:pPr>
            <a:r>
              <a:rPr sz="1200">
                <a:solidFill>
                  <a:srgbClr val="0B0B1C"/>
                </a:solidFill>
                <a:latin typeface="DM Sans"/>
              </a:rPr>
              <a:t>If the mix skews </a:t>
            </a:r>
            <a:r>
              <a:rPr i="1" sz="1200">
                <a:solidFill>
                  <a:srgbClr val="0B0B1C"/>
                </a:solidFill>
                <a:latin typeface="DM Sans"/>
              </a:rPr>
              <a:t>Tier 1</a:t>
            </a:r>
            <a:r>
              <a:rPr sz="1200">
                <a:solidFill>
                  <a:srgbClr val="0B0B1C"/>
                </a:solidFill>
                <a:latin typeface="DM Sans"/>
              </a:rPr>
              <a:t>, delivery headcount rises to </a:t>
            </a:r>
            <a:r>
              <a:rPr sz="1200">
                <a:solidFill>
                  <a:srgbClr val="0B0B1C"/>
                </a:solidFill>
                <a:latin typeface="JetBrains Mono"/>
              </a:rPr>
              <a:t>~50 FTEs</a:t>
            </a:r>
            <a:r>
              <a:rPr sz="1200">
                <a:solidFill>
                  <a:srgbClr val="0B0B1C"/>
                </a:solidFill>
                <a:latin typeface="DM Sans"/>
              </a:rPr>
              <a:t> and the raise needs to be </a:t>
            </a:r>
            <a:r>
              <a:rPr sz="1200">
                <a:solidFill>
                  <a:srgbClr val="0B0B1C"/>
                </a:solidFill>
                <a:latin typeface="JetBrains Mono"/>
              </a:rPr>
              <a:t>$20M+</a:t>
            </a:r>
            <a:r>
              <a:rPr sz="1200">
                <a:solidFill>
                  <a:srgbClr val="0B0B1C"/>
                </a:solidFill>
                <a:latin typeface="DM Sans"/>
              </a:rPr>
              <a:t>. Current pipeline maps to the base case.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Anyreach Deck (PPTX) — Example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